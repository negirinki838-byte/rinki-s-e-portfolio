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A5B54-73BE-4E49-9FCA-CBB0AA9D4EC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43F8A-F0CB-4CE2-995E-1ABACFA00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17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43F8A-F0CB-4CE2-995E-1ABACFA0097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7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43F8A-F0CB-4CE2-995E-1ABACFA0097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197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43F8A-F0CB-4CE2-995E-1ABACFA0097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19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43F8A-F0CB-4CE2-995E-1ABACFA0097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776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43F8A-F0CB-4CE2-995E-1ABACFA0097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2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67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62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40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14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53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03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58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674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560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7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12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8B1513B-6A22-4834-970E-AC6147DCF08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C300E4A-CA32-4FE7-9F2D-94F4260CF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35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0DD4-034F-74E7-A08C-9093031BE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6200" b="1" dirty="0"/>
            </a:br>
            <a:br>
              <a:rPr lang="en-US" sz="6200" b="1" dirty="0"/>
            </a:br>
            <a:r>
              <a:rPr lang="en-US" sz="5800" b="1" dirty="0"/>
              <a:t>Network Congestion &amp; Packet Loss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D2E79-BEB4-79CE-5013-3DBB7D3B7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Understanding, Detection &amp; Solutions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74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F281-52FE-0784-9BE6-5750B7C4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200" b="1" dirty="0"/>
              <a:t>  WHAT IS OUR AGENDA?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EB9FC9-9063-6E58-03F3-F316C3DF1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791807"/>
            <a:ext cx="83231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Computer Networking Basics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 of Network Congestion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Packet 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and Monitoring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Solutions and Prevention Methods</a:t>
            </a:r>
          </a:p>
        </p:txBody>
      </p:sp>
    </p:spTree>
    <p:extLst>
      <p:ext uri="{BB962C8B-B14F-4D97-AF65-F5344CB8AC3E}">
        <p14:creationId xmlns:p14="http://schemas.microsoft.com/office/powerpoint/2010/main" val="367219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830B-719E-242B-113F-91EEEDAD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555" y="486730"/>
            <a:ext cx="10058400" cy="1371600"/>
          </a:xfrm>
        </p:spPr>
        <p:txBody>
          <a:bodyPr>
            <a:noAutofit/>
          </a:bodyPr>
          <a:lstStyle/>
          <a:p>
            <a:br>
              <a:rPr lang="en-IN" sz="5200" b="1" dirty="0"/>
            </a:br>
            <a:r>
              <a:rPr lang="en-IN" sz="5200" b="1" dirty="0"/>
              <a:t>What is Computer Networking?</a:t>
            </a:r>
            <a:br>
              <a:rPr lang="en-IN" sz="5200" b="1" dirty="0"/>
            </a:br>
            <a:endParaRPr lang="en-IN" sz="5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40664E-AE10-AA92-F931-DD04607A8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299366"/>
            <a:ext cx="1048716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networking connects multiple devices to share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enables communication between phones, computers, servers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cloud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travels through networks in the form of digital signals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networks handle large amounts of traffic every second.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speed and reliability directly affect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1272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74C9-E6BD-6885-DB41-6223F2A8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Understanding Network Congestion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24876D-7955-D276-D6AD-DCA6B7590E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083922"/>
            <a:ext cx="982993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congestion is like a traffic jam.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It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occurs when data traffic exceeds network capacity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is not able to handle the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Routers and switches receive more packets than they can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Incoming packets are stored temporarily in queues.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queues become full, packets are delayed or dropped.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results in slow speed, high latency, and unstable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connections.</a:t>
            </a:r>
          </a:p>
        </p:txBody>
      </p:sp>
    </p:spTree>
    <p:extLst>
      <p:ext uri="{BB962C8B-B14F-4D97-AF65-F5344CB8AC3E}">
        <p14:creationId xmlns:p14="http://schemas.microsoft.com/office/powerpoint/2010/main" val="6333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B1D9-BB4A-91B0-FF99-F38B2626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WHAT PROBLEMS DO WE FACE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02D8AD-1309-3F01-A7D2-769B88A989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337422"/>
            <a:ext cx="9703234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- transferred in form of packets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Packets are delayed, queued, or dropped due to limited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Leads to reduced speed, video buffering, and interrupted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Affects both individual users and organizational operations.</a:t>
            </a:r>
          </a:p>
        </p:txBody>
      </p:sp>
    </p:spTree>
    <p:extLst>
      <p:ext uri="{BB962C8B-B14F-4D97-AF65-F5344CB8AC3E}">
        <p14:creationId xmlns:p14="http://schemas.microsoft.com/office/powerpoint/2010/main" val="2924156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DAE8-B0F2-94F3-72BA-8869C082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Main Causes of Congestion (Part 1)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AAFA1-9975-5136-0327-ED166B5DB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High Traffic Volume:</a:t>
            </a:r>
            <a:r>
              <a:rPr lang="en-US" sz="2400" dirty="0"/>
              <a:t> Too many users or devices sending data simultaneously</a:t>
            </a:r>
          </a:p>
          <a:p>
            <a:r>
              <a:rPr lang="en-US" sz="2400" b="1" dirty="0"/>
              <a:t>Limited Bandwidth:</a:t>
            </a:r>
            <a:r>
              <a:rPr lang="en-US" sz="2400" dirty="0"/>
              <a:t> Not enough capacity to handle all requests</a:t>
            </a:r>
          </a:p>
          <a:p>
            <a:r>
              <a:rPr lang="en-US" sz="2400" b="1" dirty="0"/>
              <a:t>Bandwidth Hogs:</a:t>
            </a:r>
            <a:r>
              <a:rPr lang="en-US" sz="2400" dirty="0"/>
              <a:t> Some devices consuming excessive network resources (4k video streaming, IPL </a:t>
            </a:r>
            <a:r>
              <a:rPr lang="en-US" sz="2400" dirty="0" err="1"/>
              <a:t>streamings</a:t>
            </a:r>
            <a:r>
              <a:rPr lang="en-US" sz="2400" dirty="0"/>
              <a:t> etc..)</a:t>
            </a:r>
          </a:p>
          <a:p>
            <a:r>
              <a:rPr lang="en-US" sz="2400" b="1" dirty="0"/>
              <a:t>Poor Network Design:</a:t>
            </a:r>
            <a:r>
              <a:rPr lang="en-US" sz="2400" dirty="0"/>
              <a:t> Inefficient network structure and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0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03C5-4514-3455-32BA-DE64605A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Main Causes of Congestion (Part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F462F-1E78-6B2A-FB6D-2309BC8B5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Outdated Hardware:</a:t>
            </a:r>
            <a:r>
              <a:rPr lang="en-US" sz="2400" dirty="0"/>
              <a:t> Old routers and switches cannot handle modern speeds</a:t>
            </a:r>
          </a:p>
          <a:p>
            <a:r>
              <a:rPr lang="en-US" sz="2400" b="1" dirty="0"/>
              <a:t>Faulty Equipment:</a:t>
            </a:r>
            <a:r>
              <a:rPr lang="en-US" sz="2400" dirty="0"/>
              <a:t> Damaged cables or malfunctioning network devices</a:t>
            </a:r>
          </a:p>
          <a:p>
            <a:r>
              <a:rPr lang="en-US" sz="2400" b="1" dirty="0"/>
              <a:t>Broadcast Storms:</a:t>
            </a:r>
            <a:r>
              <a:rPr lang="en-US" sz="2400" dirty="0"/>
              <a:t> Sudden spike in network requests</a:t>
            </a:r>
          </a:p>
          <a:p>
            <a:r>
              <a:rPr lang="en-US" sz="2400" b="1" dirty="0"/>
              <a:t>Poor Configuration:</a:t>
            </a:r>
            <a:r>
              <a:rPr lang="en-US" sz="2400" dirty="0"/>
              <a:t> Incorrect network settings and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85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275C-FC99-4D6C-C0FD-3F27C892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       What is Packet Loss?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4B028-1D0A-FE15-86D9-C481B427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 is broken into packets.</a:t>
            </a:r>
          </a:p>
          <a:p>
            <a:r>
              <a:rPr lang="en-US" sz="2400" dirty="0"/>
              <a:t>Each packet travels through the network independently.</a:t>
            </a:r>
          </a:p>
          <a:p>
            <a:r>
              <a:rPr lang="en-US" sz="2400" dirty="0"/>
              <a:t>Packet loss is when data packets fail to reach their destination during transmission.</a:t>
            </a:r>
          </a:p>
          <a:p>
            <a:r>
              <a:rPr lang="en-US" sz="2400" dirty="0"/>
              <a:t>Lost packets must be retransmitted, increasing delay.</a:t>
            </a:r>
          </a:p>
          <a:p>
            <a:r>
              <a:rPr lang="en-US" sz="2400" dirty="0"/>
              <a:t>Even a small amount of packet loss can significantly reduce network performance.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3062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1559-FC1F-05C7-6B3F-A20EF353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Does Packet Loss Happen?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9907C-6D03-892B-A14E-CD680FE0E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Network Congestion:</a:t>
            </a:r>
            <a:r>
              <a:rPr lang="en-IN" sz="2400" dirty="0"/>
              <a:t> Routers drop packets when queues are full</a:t>
            </a:r>
          </a:p>
          <a:p>
            <a:r>
              <a:rPr lang="en-IN" sz="2400" b="1" dirty="0"/>
              <a:t>Hardware Failures:</a:t>
            </a:r>
            <a:r>
              <a:rPr lang="en-IN" sz="2400" dirty="0"/>
              <a:t> Faulty network devices losing data</a:t>
            </a:r>
          </a:p>
          <a:p>
            <a:r>
              <a:rPr lang="en-IN" sz="2400" b="1" dirty="0"/>
              <a:t>Cable Issues:</a:t>
            </a:r>
            <a:r>
              <a:rPr lang="en-IN" sz="2400" dirty="0"/>
              <a:t> Damaged or loose network cables</a:t>
            </a:r>
          </a:p>
          <a:p>
            <a:r>
              <a:rPr lang="en-IN" sz="2400" b="1" dirty="0"/>
              <a:t>Software Bugs:</a:t>
            </a:r>
            <a:r>
              <a:rPr lang="en-IN" sz="2400" dirty="0"/>
              <a:t> Errors in routing protocols or firmware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006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F99D-98F1-B178-BCA5-ECB89B3B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Impact on Network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9A971-203E-5A9E-E8FA-780571019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For Users</a:t>
            </a:r>
            <a:endParaRPr lang="en-US" sz="2400" dirty="0"/>
          </a:p>
          <a:p>
            <a:r>
              <a:rPr lang="en-US" sz="2400" dirty="0"/>
              <a:t>Slow loading of websites and applications</a:t>
            </a:r>
          </a:p>
          <a:p>
            <a:r>
              <a:rPr lang="en-US" sz="2400" dirty="0"/>
              <a:t>Frequent buffering during video streaming</a:t>
            </a:r>
          </a:p>
          <a:p>
            <a:r>
              <a:rPr lang="en-US" sz="2400" dirty="0"/>
              <a:t>Interrupted voice and video calls</a:t>
            </a:r>
          </a:p>
          <a:p>
            <a:r>
              <a:rPr lang="en-US" sz="2400" dirty="0"/>
              <a:t>Lag and disconnections in online gaming</a:t>
            </a:r>
          </a:p>
          <a:p>
            <a:r>
              <a:rPr lang="en-US" sz="2400" b="1" dirty="0"/>
              <a:t>For Businesses</a:t>
            </a:r>
            <a:endParaRPr lang="en-US" sz="2400" dirty="0"/>
          </a:p>
          <a:p>
            <a:r>
              <a:rPr lang="en-US" sz="2400" dirty="0"/>
              <a:t>Service downtime and system unavailability</a:t>
            </a:r>
          </a:p>
          <a:p>
            <a:r>
              <a:rPr lang="en-US" sz="2400" dirty="0"/>
              <a:t>Reduced employee productivity</a:t>
            </a:r>
          </a:p>
          <a:p>
            <a:r>
              <a:rPr lang="en-US" sz="2400" dirty="0"/>
              <a:t>Poor customer experience</a:t>
            </a:r>
          </a:p>
          <a:p>
            <a:r>
              <a:rPr lang="en-US" sz="2400" dirty="0"/>
              <a:t>Financial losses and reduced revenue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390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C98E-EDF2-B1C8-FD46-200640C06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Technical Performance Issues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EBE4-F574-21CC-1ED9-DCC0422B1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High Latency:</a:t>
            </a:r>
            <a:r>
              <a:rPr lang="en-US" sz="2400" dirty="0"/>
              <a:t> Increased delay in packet delivery time</a:t>
            </a:r>
          </a:p>
          <a:p>
            <a:r>
              <a:rPr lang="en-US" sz="2400" b="1" dirty="0"/>
              <a:t>Reduced Throughput:</a:t>
            </a:r>
            <a:r>
              <a:rPr lang="en-US" sz="2400" dirty="0"/>
              <a:t> Lower data transfer rates</a:t>
            </a:r>
          </a:p>
          <a:p>
            <a:r>
              <a:rPr lang="en-US" sz="2400" b="1" dirty="0"/>
              <a:t>Jitter:</a:t>
            </a:r>
            <a:r>
              <a:rPr lang="en-US" sz="2400" dirty="0"/>
              <a:t> Inconsistent packet arrival times</a:t>
            </a:r>
          </a:p>
          <a:p>
            <a:r>
              <a:rPr lang="en-US" sz="2400" b="1" dirty="0"/>
              <a:t>Connection Timeouts:</a:t>
            </a:r>
            <a:r>
              <a:rPr lang="en-US" sz="2400" dirty="0"/>
              <a:t> Failed connections due to delays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004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8109-AFDB-9765-2BF3-DA36CF8E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      How to Detect Congestion &amp; </a:t>
            </a:r>
            <a:br>
              <a:rPr lang="en-US" b="1" dirty="0"/>
            </a:br>
            <a:r>
              <a:rPr lang="en-US" b="1" dirty="0"/>
              <a:t>                    Packet Loss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1D3EA-D844-4D91-0906-E090BCFB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Network Monitoring Tools:</a:t>
            </a:r>
            <a:r>
              <a:rPr lang="en-IN" sz="2400" dirty="0"/>
              <a:t> Real-time traffic analysis software</a:t>
            </a:r>
          </a:p>
          <a:p>
            <a:r>
              <a:rPr lang="en-IN" sz="2400" b="1" dirty="0"/>
              <a:t>Packet Sniffers:</a:t>
            </a:r>
            <a:r>
              <a:rPr lang="en-IN" sz="2400" dirty="0"/>
              <a:t> Tools like Wireshark to capture packets</a:t>
            </a:r>
          </a:p>
          <a:p>
            <a:r>
              <a:rPr lang="en-IN" sz="2400" b="1" dirty="0"/>
              <a:t>Performance Metrics:</a:t>
            </a:r>
            <a:r>
              <a:rPr lang="en-IN" sz="2400" dirty="0"/>
              <a:t> Track latency, throughput, packet loss rate</a:t>
            </a:r>
          </a:p>
          <a:p>
            <a:r>
              <a:rPr lang="en-IN" sz="2400" b="1" dirty="0"/>
              <a:t>Traffic Analysis:</a:t>
            </a:r>
            <a:r>
              <a:rPr lang="en-IN" sz="2400" dirty="0"/>
              <a:t> Identify bandwidth usage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295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47A8-59D4-BD01-439D-AC842D93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  Prevention Strategies (Part 1)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1846E-F5E6-620B-A7E5-E53BA8450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Increase Bandwidth:</a:t>
            </a:r>
            <a:r>
              <a:rPr lang="en-US" sz="2400" dirty="0"/>
              <a:t> Upgrade to higher capacity connections</a:t>
            </a:r>
          </a:p>
          <a:p>
            <a:r>
              <a:rPr lang="en-US" sz="2400" b="1" dirty="0"/>
              <a:t>Load Balancing:</a:t>
            </a:r>
            <a:r>
              <a:rPr lang="en-US" sz="2400" dirty="0"/>
              <a:t> Distribute traffic across multiple paths</a:t>
            </a:r>
          </a:p>
          <a:p>
            <a:r>
              <a:rPr lang="en-US" sz="2400" b="1" dirty="0"/>
              <a:t>Traffic Shaping:</a:t>
            </a:r>
            <a:r>
              <a:rPr lang="en-US" sz="2400" dirty="0"/>
              <a:t> Control and prioritize data flow</a:t>
            </a:r>
          </a:p>
          <a:p>
            <a:r>
              <a:rPr lang="en-US" sz="2400" b="1" dirty="0"/>
              <a:t>Network Segmentation:</a:t>
            </a:r>
            <a:r>
              <a:rPr lang="en-US" sz="2400" dirty="0"/>
              <a:t> Divide network into smaller subnets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07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B158-D33C-4EC3-D3E7-875631BF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  Prevention Strategies (Part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A7FE7-538B-4F49-C516-879730D1D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Quality of Service (QoS):</a:t>
            </a:r>
            <a:r>
              <a:rPr lang="en-IN" sz="2400" dirty="0"/>
              <a:t> Prioritize critical applications</a:t>
            </a:r>
          </a:p>
          <a:p>
            <a:r>
              <a:rPr lang="en-IN" sz="2400" b="1" dirty="0"/>
              <a:t>Efficient Routing:</a:t>
            </a:r>
            <a:r>
              <a:rPr lang="en-IN" sz="2400" dirty="0"/>
              <a:t> Optimize packet paths using better protocols</a:t>
            </a:r>
          </a:p>
          <a:p>
            <a:r>
              <a:rPr lang="en-IN" sz="2400" b="1" dirty="0"/>
              <a:t>Payload Compression:</a:t>
            </a:r>
            <a:r>
              <a:rPr lang="en-IN" sz="2400" dirty="0"/>
              <a:t> Reduce data size before transmission</a:t>
            </a:r>
          </a:p>
          <a:p>
            <a:r>
              <a:rPr lang="en-IN" sz="2400" b="1" dirty="0"/>
              <a:t>Hardware Upgrades:</a:t>
            </a:r>
            <a:r>
              <a:rPr lang="en-IN" sz="2400" dirty="0"/>
              <a:t> Replace outdated network equipment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081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B455-16A6-BFD5-1E0F-6EFAE1AD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      Quality of Service (QoS)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580AA-7A5A-E298-3BDF-64EA42608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QoS is a technique to manage network resources and prioritize important traffic.</a:t>
            </a:r>
          </a:p>
          <a:p>
            <a:r>
              <a:rPr lang="en-US" sz="2400" dirty="0"/>
              <a:t>Video calls and VoIP get higher priority than downloads</a:t>
            </a:r>
          </a:p>
          <a:p>
            <a:r>
              <a:rPr lang="en-US" sz="2400" dirty="0"/>
              <a:t>Can reduce packet loss by up to 25%</a:t>
            </a:r>
          </a:p>
          <a:p>
            <a:r>
              <a:rPr lang="en-US" sz="2400" dirty="0"/>
              <a:t>Ensures critical business applications work smoothly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984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AD26-D9F6-F31C-B2DC-4AF8DD7B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Network Optimization Best Practices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79E2F-0249-DF8C-5898-31DF71B31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Regular network monitoring and maintenance</a:t>
            </a:r>
          </a:p>
          <a:p>
            <a:r>
              <a:rPr lang="en-US" sz="2400" dirty="0"/>
              <a:t>Update firmware and software regularly</a:t>
            </a:r>
          </a:p>
          <a:p>
            <a:r>
              <a:rPr lang="en-US" sz="2400" dirty="0"/>
              <a:t>Implement proper network security measures</a:t>
            </a:r>
          </a:p>
          <a:p>
            <a:r>
              <a:rPr lang="en-US" sz="2400" dirty="0"/>
              <a:t>Plan for future capacity needs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192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981-1C66-5965-6E39-4A04461F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           Real-World Solutions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EF96F-2BE9-E8DB-2C12-7E269FBF8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SD-WAN = Software-Defined Wide Area Network</a:t>
            </a:r>
          </a:p>
          <a:p>
            <a:r>
              <a:rPr lang="en-US" sz="2400" dirty="0"/>
              <a:t>It is a technology where </a:t>
            </a:r>
            <a:r>
              <a:rPr lang="en-US" sz="2400" b="1" dirty="0"/>
              <a:t>software, not hardware</a:t>
            </a:r>
            <a:r>
              <a:rPr lang="en-US" sz="2400" dirty="0"/>
              <a:t>, decides how data should travel across the network.</a:t>
            </a:r>
          </a:p>
          <a:p>
            <a:r>
              <a:rPr lang="en-US" sz="2400" dirty="0"/>
              <a:t>Instead of fixed routes, the system </a:t>
            </a:r>
            <a:r>
              <a:rPr lang="en-US" sz="2400" b="1" dirty="0"/>
              <a:t>dynamically chooses the best path</a:t>
            </a:r>
            <a:r>
              <a:rPr lang="en-US" sz="2400" dirty="0"/>
              <a:t>.</a:t>
            </a:r>
          </a:p>
          <a:p>
            <a:r>
              <a:rPr lang="en-US" sz="2400" b="1" dirty="0"/>
              <a:t>TCP = Transmission Control Protocol</a:t>
            </a:r>
          </a:p>
          <a:p>
            <a:r>
              <a:rPr lang="en-US" sz="2400" dirty="0"/>
              <a:t>TCP controls:</a:t>
            </a:r>
          </a:p>
          <a:p>
            <a:r>
              <a:rPr lang="en-US" sz="2400" dirty="0"/>
              <a:t>How data is sent</a:t>
            </a:r>
          </a:p>
          <a:p>
            <a:r>
              <a:rPr lang="en-US" sz="2400" dirty="0"/>
              <a:t>How errors are corrected</a:t>
            </a:r>
          </a:p>
          <a:p>
            <a:r>
              <a:rPr lang="en-US" sz="2400" dirty="0"/>
              <a:t>How speed is adjusted</a:t>
            </a:r>
          </a:p>
          <a:p>
            <a:r>
              <a:rPr lang="en-US" sz="2400" dirty="0"/>
              <a:t>It is the “traffic controller” of data transfer.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16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326D-DEAC-247E-C978-DC0D311D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            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CDF2-6667-FD18-D022-80B5ACC29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Network congestion is a common challenge in modern networks</a:t>
            </a:r>
          </a:p>
          <a:p>
            <a:r>
              <a:rPr lang="en-US" sz="2400" dirty="0"/>
              <a:t>Proper planning and monitoring can prevent most issues</a:t>
            </a:r>
          </a:p>
          <a:p>
            <a:r>
              <a:rPr lang="en-US" sz="2400" dirty="0"/>
              <a:t>Multiple solutions exist - choose based on your needs</a:t>
            </a:r>
          </a:p>
          <a:p>
            <a:r>
              <a:rPr lang="en-US" sz="2400" dirty="0"/>
              <a:t>Regular maintenance ensures long-term network health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46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F53D-80D7-2B3D-4744-4AF3F5280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051624"/>
          </a:xfrm>
        </p:spPr>
        <p:txBody>
          <a:bodyPr>
            <a:normAutofit/>
          </a:bodyPr>
          <a:lstStyle/>
          <a:p>
            <a:r>
              <a:rPr lang="en-IN" sz="5200" b="1" dirty="0"/>
              <a:t>                THANKYOU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AAB5-BE35-B8E5-433C-74CB75A6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336988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104</TotalTime>
  <Words>817</Words>
  <Application>Microsoft Office PowerPoint</Application>
  <PresentationFormat>Widescreen</PresentationFormat>
  <Paragraphs>121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Century Gothic</vt:lpstr>
      <vt:lpstr>Garamond</vt:lpstr>
      <vt:lpstr>Savon</vt:lpstr>
      <vt:lpstr>  Network Congestion &amp; Packet Loss  </vt:lpstr>
      <vt:lpstr>  WHAT IS OUR AGENDA?</vt:lpstr>
      <vt:lpstr> What is Computer Networking? </vt:lpstr>
      <vt:lpstr> Understanding Network Congestion</vt:lpstr>
      <vt:lpstr> WHAT PROBLEMS DO WE FACE ?</vt:lpstr>
      <vt:lpstr>Main Causes of Congestion (Part 1)</vt:lpstr>
      <vt:lpstr>Main Causes of Congestion (Part 2)</vt:lpstr>
      <vt:lpstr>        What is Packet Loss?</vt:lpstr>
      <vt:lpstr>Why Does Packet Loss Happen?</vt:lpstr>
      <vt:lpstr>Impact on Network Performance</vt:lpstr>
      <vt:lpstr>Technical Performance Issues</vt:lpstr>
      <vt:lpstr>       How to Detect Congestion &amp;                      Packet Loss</vt:lpstr>
      <vt:lpstr>   Prevention Strategies (Part 1)</vt:lpstr>
      <vt:lpstr>   Prevention Strategies (Part 2)</vt:lpstr>
      <vt:lpstr>       Quality of Service (QoS)</vt:lpstr>
      <vt:lpstr>Network Optimization Best Practices</vt:lpstr>
      <vt:lpstr>            Real-World Solutions</vt:lpstr>
      <vt:lpstr>             Key Takeaways</vt:lpstr>
      <vt:lpstr>                THANKYOU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diya10051@gmail.com</dc:creator>
  <cp:lastModifiedBy>diya10051@gmail.com</cp:lastModifiedBy>
  <cp:revision>1</cp:revision>
  <dcterms:created xsi:type="dcterms:W3CDTF">2026-02-04T16:58:58Z</dcterms:created>
  <dcterms:modified xsi:type="dcterms:W3CDTF">2026-02-04T18:43:17Z</dcterms:modified>
</cp:coreProperties>
</file>